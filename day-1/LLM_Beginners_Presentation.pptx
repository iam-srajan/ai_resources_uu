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3" r:id="rId10"/>
    <p:sldId id="267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03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BF52-EDFE-EE36-42D5-F3D4EC11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56226-CBF4-6527-FEE8-3E822CC8D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5D850-0FED-457A-B58D-68D18F50F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534E9-A85D-8399-2DD4-76980D01A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D6A4F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LLMs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Agentic 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Large Language Models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explanations  •  Real examples  •  No prior AI knowledge needed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65760"/>
            <a:ext cx="1005840" cy="1005840"/>
          </a:xfrm>
          <a:prstGeom prst="ellipse">
            <a:avLst/>
          </a:prstGeom>
          <a:solidFill>
            <a:srgbClr val="EFFAF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FFA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37360" y="148132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190195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LLM, a model, and the Transformer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FFAF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83464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737360" y="27157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Types, Scale &amp; Language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13639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types, parameters, tokens, context window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FFA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737360" y="39502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Ecosystem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37360" y="437083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labs, open vs closed models, running AI locally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FFA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035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1737360" y="51846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Basics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37360" y="560527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chat product behavior, glossary &amp; revision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LLM, what is a model, and the architecture behind it 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996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898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(Large Language Model) is an AI trained on huge amounts of text to understand and generate human-like language.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414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Claude, Llama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31012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text datasets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72160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generates natural language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330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chatting, summarizing, coding, translation &amp; content creation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863840" y="141732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EFFAF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Example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“Write an email for leave.”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 full, professional email in seconds.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Model?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trained AI system that learns patterns from data and uses them to make predictions or generate responses.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65176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94760" y="2651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265176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0" y="2651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265176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738360" y="2651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/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EFFAF3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Teaching a model to recognize cats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846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cat pictures  ➜  Training  ➜  Model  ➜  Input: a new image  ➜  Output: “This is a cat.”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Types, Scale &amp; Language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breeds of LLMs, parameters, tokens, and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Breeds of LLMs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differ based on how they are trained and what task they're optimized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likely token only. No instructions, no roles, no reasoning — just sequence completion.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“The capital of France is” → “Paris and it is known for…”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training &amp; customization.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173736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6760" y="19659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567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556760" y="260604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(Instruct)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6760" y="320040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(via RLHF) to follow instructions and hold a conversation, using System / User / Assistant prompts.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Q: “Capital of Japan?” A: “Tokyo”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chat, emails, content — fast &amp; low-cost.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7680" y="173736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6280" y="1965960"/>
            <a:ext cx="502920" cy="5029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62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8336280" y="260604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36280" y="320040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step-by-step before answering (also called a Thinking Model). Great at math, logic, and planning.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Reasoning ⊇ Chat ⊇ Base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problem solving — but slower &amp; pricier.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Types, Scale &amp; Language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Models &amp; Choosing the Right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Adaptive-thinking hybrid: </a:t>
            </a:r>
            <a:r>
              <a:rPr lang="en-US" sz="13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to think based on question difficulty (e.g. Gemini Pro 2.5, GPT-5).
</a:t>
            </a:r>
            <a:r>
              <a:rPr lang="en-US" sz="13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Model + Tools hybrid: </a:t>
            </a:r>
            <a:r>
              <a:rPr lang="en-US" sz="13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models work together with external tools (calculator, search, database, APIs).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7498080" cy="2011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customization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&amp; creativity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 &amp;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intelligence / tool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26060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EFFAF3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743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🎚 Reasoning Budget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31089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budget = better accuracy but more cost &amp; latency. “Budget forcing” (e.g. inserting “wait”) makes a model think more deeply.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summary: Base models generate text, chat models answer questions, reasoning models solve problems, and hybrid models combine models with tools.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Types, Scale &amp; Language</a:t>
            </a:r>
            <a:endParaRPr lang="en-US" sz="1000" dirty="0"/>
          </a:p>
        </p:txBody>
      </p:sp>
      <p:sp>
        <p:nvSpPr>
          <p:cNvPr id="6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5AA0-3BF4-80C4-0568-19938D68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BA1F1-E0B0-33AF-2DBE-221F4820D793}"/>
              </a:ext>
            </a:extLst>
          </p:cNvPr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20FB9D-40D1-3C68-F55B-DA794ABD50BB}"/>
              </a:ext>
            </a:extLst>
          </p:cNvPr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3E6C29-B89C-EAFD-A028-B90E03E7FE48}"/>
              </a:ext>
            </a:extLst>
          </p:cNvPr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GPT Timeline &amp; Emergent Intelligence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95C7A9-3FC3-6D87-A70C-3FCDC3E1E42E}"/>
              </a:ext>
            </a:extLst>
          </p:cNvPr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38100">
            <a:solidFill>
              <a:srgbClr val="B7E4C7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D0EE8B-9DF8-BB83-FAF0-35E7112DDC77}"/>
              </a:ext>
            </a:extLst>
          </p:cNvPr>
          <p:cNvSpPr/>
          <p:nvPr/>
        </p:nvSpPr>
        <p:spPr>
          <a:xfrm>
            <a:off x="61264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782197-21A3-C6A5-58CD-EAD33C8852AA}"/>
              </a:ext>
            </a:extLst>
          </p:cNvPr>
          <p:cNvSpPr/>
          <p:nvPr/>
        </p:nvSpPr>
        <p:spPr>
          <a:xfrm>
            <a:off x="18288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CD99D9-DE03-F046-0B58-F9FC8E9CA0C5}"/>
              </a:ext>
            </a:extLst>
          </p:cNvPr>
          <p:cNvSpPr/>
          <p:nvPr/>
        </p:nvSpPr>
        <p:spPr>
          <a:xfrm>
            <a:off x="18288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F60E54-DF06-9122-4705-3E825F483FAF}"/>
              </a:ext>
            </a:extLst>
          </p:cNvPr>
          <p:cNvSpPr/>
          <p:nvPr/>
        </p:nvSpPr>
        <p:spPr>
          <a:xfrm>
            <a:off x="239572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9DC125-D7A7-AA85-04BD-FBB1743BE8CF}"/>
              </a:ext>
            </a:extLst>
          </p:cNvPr>
          <p:cNvSpPr/>
          <p:nvPr/>
        </p:nvSpPr>
        <p:spPr>
          <a:xfrm>
            <a:off x="196596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B5101F-15BB-AA80-5AC6-B05746D00D8A}"/>
              </a:ext>
            </a:extLst>
          </p:cNvPr>
          <p:cNvSpPr/>
          <p:nvPr/>
        </p:nvSpPr>
        <p:spPr>
          <a:xfrm>
            <a:off x="196596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3EED43-0853-1F68-08CB-58F738A3DA5D}"/>
              </a:ext>
            </a:extLst>
          </p:cNvPr>
          <p:cNvSpPr/>
          <p:nvPr/>
        </p:nvSpPr>
        <p:spPr>
          <a:xfrm>
            <a:off x="417880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81E30C5-26FC-489F-ECAF-1B03B87CF0F9}"/>
              </a:ext>
            </a:extLst>
          </p:cNvPr>
          <p:cNvSpPr/>
          <p:nvPr/>
        </p:nvSpPr>
        <p:spPr>
          <a:xfrm>
            <a:off x="374904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6D54A4-05B1-C182-5E87-F74859A74A07}"/>
              </a:ext>
            </a:extLst>
          </p:cNvPr>
          <p:cNvSpPr/>
          <p:nvPr/>
        </p:nvSpPr>
        <p:spPr>
          <a:xfrm>
            <a:off x="374904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2A5359F-F562-7D49-B947-B7AA313DAB87}"/>
              </a:ext>
            </a:extLst>
          </p:cNvPr>
          <p:cNvSpPr/>
          <p:nvPr/>
        </p:nvSpPr>
        <p:spPr>
          <a:xfrm>
            <a:off x="596188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4946A8D-6318-32BF-B9FF-C54D78FD1712}"/>
              </a:ext>
            </a:extLst>
          </p:cNvPr>
          <p:cNvSpPr/>
          <p:nvPr/>
        </p:nvSpPr>
        <p:spPr>
          <a:xfrm>
            <a:off x="553212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93DB9BE-4DE3-9B57-C2C5-55913332243C}"/>
              </a:ext>
            </a:extLst>
          </p:cNvPr>
          <p:cNvSpPr/>
          <p:nvPr/>
        </p:nvSpPr>
        <p:spPr>
          <a:xfrm>
            <a:off x="553212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3AFBE68-8678-F2B1-D1CB-B47D99B922F0}"/>
              </a:ext>
            </a:extLst>
          </p:cNvPr>
          <p:cNvSpPr/>
          <p:nvPr/>
        </p:nvSpPr>
        <p:spPr>
          <a:xfrm>
            <a:off x="774496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38C93C6-4A09-B6DF-38E4-1E3FC7398B51}"/>
              </a:ext>
            </a:extLst>
          </p:cNvPr>
          <p:cNvSpPr/>
          <p:nvPr/>
        </p:nvSpPr>
        <p:spPr>
          <a:xfrm>
            <a:off x="731520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0A81F59-7667-DB5A-0762-210448D7088C}"/>
              </a:ext>
            </a:extLst>
          </p:cNvPr>
          <p:cNvSpPr/>
          <p:nvPr/>
        </p:nvSpPr>
        <p:spPr>
          <a:xfrm>
            <a:off x="731520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93F62E8-3EAE-3677-1ED1-23F135FA4FEE}"/>
              </a:ext>
            </a:extLst>
          </p:cNvPr>
          <p:cNvSpPr/>
          <p:nvPr/>
        </p:nvSpPr>
        <p:spPr>
          <a:xfrm>
            <a:off x="952804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6B3FDC0-9CB1-D104-1E76-0541C8969840}"/>
              </a:ext>
            </a:extLst>
          </p:cNvPr>
          <p:cNvSpPr/>
          <p:nvPr/>
        </p:nvSpPr>
        <p:spPr>
          <a:xfrm>
            <a:off x="909828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08A4D5B-B89B-25B1-2929-FAB87A1F2207}"/>
              </a:ext>
            </a:extLst>
          </p:cNvPr>
          <p:cNvSpPr/>
          <p:nvPr/>
        </p:nvSpPr>
        <p:spPr>
          <a:xfrm>
            <a:off x="909828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406C68B-6D7E-4569-E0C6-A19F97DDD758}"/>
              </a:ext>
            </a:extLst>
          </p:cNvPr>
          <p:cNvSpPr/>
          <p:nvPr/>
        </p:nvSpPr>
        <p:spPr>
          <a:xfrm>
            <a:off x="11311128" y="2167128"/>
            <a:ext cx="237744" cy="23774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CF15BEF-91E2-ECD4-A79B-AB04D7C4AC15}"/>
              </a:ext>
            </a:extLst>
          </p:cNvPr>
          <p:cNvSpPr/>
          <p:nvPr/>
        </p:nvSpPr>
        <p:spPr>
          <a:xfrm>
            <a:off x="1088136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FF51B8-33BA-38D4-4651-EA55676DC9D9}"/>
              </a:ext>
            </a:extLst>
          </p:cNvPr>
          <p:cNvSpPr/>
          <p:nvPr/>
        </p:nvSpPr>
        <p:spPr>
          <a:xfrm>
            <a:off x="1088136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F9A7EDB-3E51-8995-3C83-B82014F50C08}"/>
              </a:ext>
            </a:extLst>
          </p:cNvPr>
          <p:cNvSpPr/>
          <p:nvPr/>
        </p:nvSpPr>
        <p:spPr>
          <a:xfrm>
            <a:off x="731520" y="2834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felt slow… until it suddenly didn't.</a:t>
            </a:r>
            <a:endParaRPr lang="en-US" sz="12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C56C160-AD2E-9469-CFE2-11021EEDE0C0}"/>
              </a:ext>
            </a:extLst>
          </p:cNvPr>
          <p:cNvSpPr/>
          <p:nvPr/>
        </p:nvSpPr>
        <p:spPr>
          <a:xfrm>
            <a:off x="594360" y="3566160"/>
            <a:ext cx="10972800" cy="2194560"/>
          </a:xfrm>
          <a:prstGeom prst="roundRect">
            <a:avLst>
              <a:gd name="adj" fmla="val 4167"/>
            </a:avLst>
          </a:prstGeom>
          <a:solidFill>
            <a:srgbClr val="EFFAF3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353646C-55AE-E8E1-5B55-214A4E9924DA}"/>
              </a:ext>
            </a:extLst>
          </p:cNvPr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✨ Emergent Intelligence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5B1D2A8-D6E2-C085-FE6B-A2DAF88614E6}"/>
              </a:ext>
            </a:extLst>
          </p:cNvPr>
          <p:cNvSpPr/>
          <p:nvPr/>
        </p:nvSpPr>
        <p:spPr>
          <a:xfrm>
            <a:off x="868680" y="4160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large neural networks do more than expected — showing intelligent behavior that only appears at large scale.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CE8994F-52E5-1E38-E8CE-DD5E8BAF8846}"/>
              </a:ext>
            </a:extLst>
          </p:cNvPr>
          <p:cNvSpPr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surprising: </a:t>
            </a: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likely next words — “predictive text on steroids.”
</a:t>
            </a: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Surprising: </a:t>
            </a: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often correct, accurate, and intelligent (math, logic, reasoning) — and researchers still don't fully know why.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B3A1D19-4AEF-ABFE-553C-175EC727667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6FB90A1-7EF9-49CC-545C-18F5E64CC09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6219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Parameters: The AI's Learned Knowledge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996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8988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is a learned numerical value inside a model. Together, parameters store everything the model learned during training.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Analogy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3957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= training data · Studying = training · Student = model · Learned knowledge = parameters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Rule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0156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 usually means a more capable model — but architecture and training quality matter too.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99592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can still win: Gemma (270M) can outperform GPT-2 (1.5B) thanks to better training.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EFFAF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Parameter Explosion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GPT-1: 117 million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GPT-2: 1.5 billion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 billion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~1.76 trillion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models: likely tens of trillions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Types, Scale &amp; Language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Tokenization: Cutting Text into Pieces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breaks human text into small units called tokens — words, parts of words, numbers, or punctuation — so AI can process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18520" cy="640080"/>
          </a:xfrm>
          <a:prstGeom prst="roundRect">
            <a:avLst>
              <a:gd name="adj" fmla="val 11429"/>
            </a:avLst>
          </a:prstGeom>
          <a:solidFill>
            <a:srgbClr val="EFFAF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find a remote marketing job.”  ➜  help | me | find | a | remote | market | ing | job | .  ➜  4321 | 201 | 874 | … | 334 | 98 | 765 | 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Subword Tokenization?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words into meaningful roots, prefixes &amp; suffixes instead of storing every full word.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“marketing” → market + 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“unhappiness” → un + happy + ness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new &amp; misspelled words too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54406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Analogy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learns root words, then adds pieces (un + happy, happy + ness) rather than memorizing every long word. AI learns language the same way.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meaningful tokens in a prompt = better understanding = better output.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Types, Scale &amp; Language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Window: The AI's Short-Term Memory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996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8988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the maximum number of tokens a model can consider at once — its short-term memory.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Toward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395728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instructions, the entire chat history, shared documents, and the reply being written — everything, not just the last message.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9300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re-reads the whole window fresh on every response — it does not retain memory outside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99592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fills up, the oldest information is pushed out and “forgotten.”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EFFAF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📓 Notebook Analogy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1920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room for only 10 pages: when page 11 arrives, the oldest page is removed. New text pushes out old text the same way.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Types, Scale &amp; Language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Ecosystem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builds frontier models, open vs closed, and how to actually use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Models &amp; the Major AI Labs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/ Foundation models = the most advanced, general-purpose AI available today. “Frontier” describes capability — not whether it's open or closed source.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EFFAF3"/>
          </a:solidFill>
          <a:ln w="9525">
            <a:solidFill>
              <a:srgbClr val="B7E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96596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(hybrid reasoning), GPT-4.1, ChatGPT product, GPT-OSS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E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Haiku (fast), Sonnet (balanced), Opus (powerful)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EFFAF3"/>
          </a:solidFill>
          <a:ln w="9525">
            <a:solidFill>
              <a:srgbClr val="B7E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61188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also branded “Gemini Advanced”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43484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3484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443484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(spelled with a K — not the same as Groq)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5257800"/>
            <a:ext cx="11018520" cy="713232"/>
          </a:xfrm>
          <a:prstGeom prst="roundRect">
            <a:avLst>
              <a:gd name="adj" fmla="val 10256"/>
            </a:avLst>
          </a:prstGeom>
          <a:solidFill>
            <a:srgbClr val="EFFAF3"/>
          </a:solidFill>
          <a:ln w="9525">
            <a:solidFill>
              <a:srgbClr val="B7E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525780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 ALL its models, even the largest, at low training cost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AI Ecosystem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Mental Model: Limitations to Remember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EFFA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Cutoff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know info up to their training date. They may suggest old APIs or deprecated tools.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EFFAF3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confidently generate false information. Confidence ≠ correctness — always double-check important facts.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54680"/>
          <a:ext cx="11018520" cy="16002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looks up live websites, then summarizes findings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 a database; retrieves facts before answering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quietly tell the AI today's date at chat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94360" y="493776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93776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Best Mental Model: think of an LLM as a tireless junior analyst — fast, helpful, but sometimes confidently wrong. Supervise it, question assumptions, validate its logic.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AI Ecosystem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vs Closed-Source Models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EFFA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companies; weights are private. Access only via website/API.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ChatGPT, Claude, Gemini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watching Netflix — you can use it, not download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EFFAF3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download, run locally, and fine-tune it.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LLaMA, Mistral, Qwen, Gemma, Phi, DeepSeek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“Open” doesn't always mean free — some have license limits.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Open-Weight Families: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(Meta) · Mistral (MoE pioneer) · Qwen (Alibaba) · Gemma (Google) · Phi (Microsoft) · DeepSeek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303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Knowledge Distillation: training a small model using a large model's outputs — like a student learning directly from a teacher instead of reading every book.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AI Ecosystem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Use AI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apps like ChatGPT, Gemini, Claude.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interface, file upload, memory, voice, web search.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41732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6760" y="16459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56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4556760" y="228600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APIs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6760" y="288036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sends requests to models on cloud servers (OpenAI, Vertex AI, Azure, Bedrock).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hardware needed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Needs internet + usage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505200" cy="4480560"/>
          </a:xfrm>
          <a:prstGeom prst="roundRect">
            <a:avLst>
              <a:gd name="adj" fmla="val 2609"/>
            </a:avLst>
          </a:prstGeom>
          <a:solidFill>
            <a:srgbClr val="EFFA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6280" y="1645920"/>
            <a:ext cx="502920" cy="5029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8336280" y="228600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Inference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6280" y="2880360"/>
            <a:ext cx="3048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model on your own computer (e.g. with Ollama).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Privacy, offline, full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Needs enough RAM/GPU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AI Ecosystem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Ollama: Running LLMs on Your Own Computer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lets beginners download, manage, and run open-source LLMs locally — similar to Docker, but for AI models. Works on Windows, macOS, and Linux.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0B2E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Commands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
</a:t>
            </a:r>
            <a:r>
              <a:rPr lang="en-US" sz="1100" dirty="0">
                <a:solidFill>
                  <a:srgbClr val="CFEAD9"/>
                </a:solidFill>
              </a:rPr>
              <a:t>Checks if Ollama is installed
</a:t>
            </a:r>
            <a:r>
              <a:rPr lang="en-US" sz="12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
</a:t>
            </a:r>
            <a:r>
              <a:rPr lang="en-US" sz="1100" dirty="0">
                <a:solidFill>
                  <a:srgbClr val="CFEAD9"/>
                </a:solidFill>
              </a:rPr>
              <a:t>Starts the Ollama service
</a:t>
            </a:r>
            <a:r>
              <a:rPr lang="en-US" sz="12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gemma:270m
</a:t>
            </a:r>
            <a:r>
              <a:rPr lang="en-US" sz="1100" dirty="0">
                <a:solidFill>
                  <a:srgbClr val="CFEAD9"/>
                </a:solidFill>
              </a:rPr>
              <a:t>Downloads &amp; runs the model — chat right in your terminal!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65960"/>
          <a:ext cx="5257800" cy="22860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(Millions)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RAM — most laptops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(Billions)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(10B+)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4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RAM / cloud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4360" y="4480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vs Ollama: Hugging Face = Python library, more control, supports training (better for developers). Ollama = desktop app, one-command setup (better for beginners).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AI Ecosystem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Basics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real-world chat behavior, glossary &amp; revision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AI, Context Engineering &amp; Copilots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FFA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361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version of prompt engineering: supplying the right information, at the right time, in the right structure (business rules, data, prices, policies).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FFA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361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+ LLMs working together (GitHub Copilot, Claude Code). They automate boring tasks while enriching creative 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FFAF3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5361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14884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that controls the workflow — deciding what to do next, which tools to use, in a repeating “agent loop.”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11018520" cy="1508760"/>
          </a:xfrm>
          <a:prstGeom prst="roundRect">
            <a:avLst>
              <a:gd name="adj" fmla="val 6061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Autonomy = the LLM predicting its own next 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magical, but it's really just token prediction — the output includes action instructions. Real example: Claude Code shows task planning and step-by-step execution, but internally it's just multiple LLM calls in a loop.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Beyond the Basics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Products in Practice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core AI (e.g. GPT-5).   </a:t>
            </a: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Product </a:t>
            </a:r>
            <a:r>
              <a:rPr lang="en-US" sz="13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UI + tools + memory + web search (e.g. ChatGPT). What you see is not just the model!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EFFAF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Strengths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" y="2496312"/>
            <a:ext cx="91440" cy="91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well-organized reasoning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" y="3026664"/>
            <a:ext cx="91440" cy="91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07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&amp; clear explanations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557016"/>
            <a:ext cx="91440" cy="91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38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synthesis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" y="4087368"/>
            <a:ext cx="91440" cy="91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68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absurd or nonsense questions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EFFAF3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Weaknesses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2496312"/>
            <a:ext cx="91440" cy="914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/ real-time information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10528" y="3026664"/>
            <a:ext cx="91440" cy="914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907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mathematical derivations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3557016"/>
            <a:ext cx="91440" cy="914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438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subjective domains (medicine, law)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4087368"/>
            <a:ext cx="91440" cy="914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968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reasoning chains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709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 single model is best at everything — Claude excels at long-context reasoning; Gemini at real-time &amp; multimodal tasks; Mistral is lightweight &amp; efficient.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Beyond the Basics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Terms Glossary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trained on huge text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48840" y="19476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unit of text (word, subword, number, or symbol)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4780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48840" y="247802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text into tokens so AI can process 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0083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48840" y="30083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numerical values storing the model's knowledge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48840" y="35387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trained model to generate responses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— only relevant experts process each request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19476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0" y="19476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number of tokens a model can consider at once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24780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0" y="247802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injecting documents into the prompt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30083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Hallucination: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30083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LLM confidently generates false information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35387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35387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— trains chat behavior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Beyond the Basics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Quick Revision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AI trained on huge text data to understand &amp; generate language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(2017) beat slow LSTMs using parallel attention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523744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432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Chat → Reasoning → Hybrid: each model type builds on the last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= learned knowledge; more usually means more capable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767328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675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breaks text into pieces; the context window limits memory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Frontier/foundation models = most advanced; can be open or closed source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010912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10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9194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and have a knowledge cutoff — always supervise them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5632704"/>
            <a:ext cx="274320" cy="2743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632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55412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an LLM controlling a workflow or tool-using loop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4846320"/>
            <a:ext cx="2377440" cy="2377440"/>
          </a:xfrm>
          <a:prstGeom prst="ellipse">
            <a:avLst/>
          </a:prstGeom>
          <a:solidFill>
            <a:srgbClr val="40916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2011680"/>
            <a:ext cx="1371600" cy="13716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Understand LLMs!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 models to agentic AI — you've covered the full journey.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2359</Words>
  <Application>Microsoft Office PowerPoint</Application>
  <PresentationFormat>Widescreen</PresentationFormat>
  <Paragraphs>360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Srajan shukla</cp:lastModifiedBy>
  <cp:revision>6</cp:revision>
  <dcterms:created xsi:type="dcterms:W3CDTF">2026-09-05T16:23:38Z</dcterms:created>
  <dcterms:modified xsi:type="dcterms:W3CDTF">2026-09-10T02:22:17Z</dcterms:modified>
</cp:coreProperties>
</file>